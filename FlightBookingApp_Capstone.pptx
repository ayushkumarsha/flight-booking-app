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1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image" Target="../media/image2.jpe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9.jpeg"/><Relationship Id="rId15" Type="http://schemas.openxmlformats.org/officeDocument/2006/relationships/image" Target="../media/image8.jpeg"/><Relationship Id="rId14" Type="http://schemas.openxmlformats.org/officeDocument/2006/relationships/image" Target="../media/image7.jpeg"/><Relationship Id="rId13" Type="http://schemas.openxmlformats.org/officeDocument/2006/relationships/image" Target="../media/image6.jpeg"/><Relationship Id="rId12" Type="http://schemas.openxmlformats.org/officeDocument/2006/relationships/image" Target="../media/image5.jpeg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640080"/>
            <a:ext cx="2011680" cy="2011680"/>
          </a:xfrm>
          <a:prstGeom prst="ellipse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914400"/>
            <a:ext cx="1463040" cy="1463040"/>
          </a:xfrm>
          <a:prstGeom prst="ellipse">
            <a:avLst/>
          </a:prstGeom>
          <a:solidFill>
            <a:srgbClr val="4A9FD4">
              <a:alpha val="4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 Booking App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9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— Full Stack Microservices Application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Developed by: </a:t>
            </a:r>
            <a:r>
              <a:rPr lang="en-US" sz="1300" b="1" dirty="0">
                <a:solidFill>
                  <a:srgbClr val="FFFFFF"/>
                </a:solidFill>
              </a:rPr>
              <a:t>Ayush Kumar Sha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Technologies: </a:t>
            </a:r>
            <a:r>
              <a:rPr lang="en-US" sz="1200" dirty="0">
                <a:solidFill>
                  <a:srgbClr val="4A9FD4"/>
                </a:solidFill>
              </a:rPr>
              <a:t>Angular  •  Spring Boot  •  MySQL  •  Kafka  •  Docker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Patterns: </a:t>
            </a:r>
            <a:r>
              <a:rPr lang="en-US" sz="1200" dirty="0">
                <a:solidFill>
                  <a:srgbClr val="4A9FD4"/>
                </a:solidFill>
              </a:rPr>
              <a:t>CQRS  •  DDD  •  SAGA  •  OpenFeign  •  Event-Driven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FD4"/>
                </a:solidFill>
              </a:rPr>
              <a:t>2026 | Wipro Capstone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9319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033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dirty="0"/>
              <a:t>🔹</a:t>
            </a:r>
            <a:r>
              <a:rPr lang="en-US" altLang="en-GB" sz="900" dirty="0"/>
              <a:t> Problem Statement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Traditional flight booking systems lack scalability and real-time coordination across services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Handling distributed transactions (booking + payment) is complex</a:t>
            </a:r>
            <a:endParaRPr lang="en-US" altLang="en-GB" sz="900" dirty="0"/>
          </a:p>
          <a:p>
            <a:pPr marL="0" indent="0">
              <a:buNone/>
            </a:pPr>
            <a:endParaRPr lang="en-US" altLang="en-GB" sz="900" dirty="0"/>
          </a:p>
          <a:p>
            <a:pPr marL="0" indent="0">
              <a:buNone/>
            </a:pPr>
            <a:r>
              <a:rPr lang="zh-CN" altLang="en-US" sz="900" dirty="0"/>
              <a:t>🔹</a:t>
            </a:r>
            <a:r>
              <a:rPr lang="en-US" altLang="en-GB" sz="900" dirty="0"/>
              <a:t> Objective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Build a scalable microservices-based flight booking system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Ensure real-time communication and data consistency across services</a:t>
            </a:r>
            <a:endParaRPr lang="en-US" altLang="en-GB" sz="900" dirty="0"/>
          </a:p>
          <a:p>
            <a:pPr marL="0" indent="0">
              <a:buNone/>
            </a:pPr>
            <a:endParaRPr lang="en-US" altLang="en-GB" sz="900" dirty="0"/>
          </a:p>
          <a:p>
            <a:pPr marL="0" indent="0">
              <a:buNone/>
            </a:pPr>
            <a:r>
              <a:rPr lang="zh-CN" altLang="en-US" sz="900" dirty="0"/>
              <a:t>🔹</a:t>
            </a:r>
            <a:r>
              <a:rPr lang="en-US" altLang="en-GB" sz="900" dirty="0"/>
              <a:t> Solution Approach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Designed using Microservices Architecture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Implemented Synchronous (Feign) and Asynchronous (Kafka) communication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Used SAGA pattern for distributed transaction management</a:t>
            </a:r>
            <a:endParaRPr lang="en-US" altLang="en-GB" sz="900" dirty="0"/>
          </a:p>
          <a:p>
            <a:pPr marL="0" indent="0">
              <a:buNone/>
            </a:pPr>
            <a:endParaRPr lang="en-US" altLang="en-GB" sz="900" dirty="0"/>
          </a:p>
          <a:p>
            <a:pPr marL="0" indent="0">
              <a:buNone/>
            </a:pPr>
            <a:r>
              <a:rPr lang="zh-CN" altLang="en-US" sz="900" dirty="0"/>
              <a:t>🔹</a:t>
            </a:r>
            <a:r>
              <a:rPr lang="en-US" altLang="en-GB" sz="900" dirty="0"/>
              <a:t> Key Design Patterns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CQRS (Command Query Responsibility Segregation)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SAGA Pattern (Distributed Transactions)</a:t>
            </a:r>
            <a:endParaRPr lang="en-US" altLang="en-GB" sz="900" dirty="0"/>
          </a:p>
          <a:p>
            <a:pPr marL="0" indent="0">
              <a:buNone/>
            </a:pPr>
            <a:r>
              <a:rPr lang="en-US" altLang="en-GB" sz="900" dirty="0"/>
              <a:t>DDD Aggregate (Business Rule Enforcement)</a:t>
            </a:r>
            <a:endParaRPr lang="en-US" altLang="en-GB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4434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051560"/>
            <a:ext cx="44348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Objectives &amp;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416052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5 microservices: User Write, User Read, Flight, Booking, Payment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CQRS — separate command and query services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DDD Aggregate with dynamic pricing in Flight 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Kafka for async SAGA pattern between Booking &amp; Payment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OpenFeign for synchronous REST communication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Angular frontend with login, search, booking &amp; payment flows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 Swagger, AOP logging, Zipkin tracing, JUnit &amp; Karma tests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 &amp; System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45920" cy="9601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875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Angular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1627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UI Layer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960120"/>
            <a:ext cx="16459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9875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API Gateway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+ Eureka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Service Discovery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0" y="960120"/>
            <a:ext cx="16459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9875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Write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(Port 8081)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1627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CQRS Command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960120"/>
            <a:ext cx="16459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9875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Read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(Port 8082)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1627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CQRS Query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98080" y="960120"/>
            <a:ext cx="16459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9875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Flight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(Port 8083)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16276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DDD Aggregate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2148840"/>
            <a:ext cx="164592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217627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Booking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(Port 8084)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28163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SAGA + OpenFeign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2148840"/>
            <a:ext cx="164592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217627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Payment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(Port 8085)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28163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Kafka Consumer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2148840"/>
            <a:ext cx="164592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217627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 Kafka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28163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Async Events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98080" y="2148840"/>
            <a:ext cx="16459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217627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MySQL 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28163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0" y="144475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144475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144475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144475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263347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633472"/>
            <a:ext cx="1828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2148840"/>
            <a:ext cx="1645920" cy="960120"/>
          </a:xfrm>
          <a:prstGeom prst="rect">
            <a:avLst/>
          </a:prstGeom>
          <a:solidFill>
            <a:srgbClr val="1B6CA8">
              <a:alpha val="80000"/>
            </a:srgbClr>
          </a:solidFill>
          <a:ln w="6350">
            <a:solidFill>
              <a:srgbClr val="4A9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21488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Workflow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" y="2468880"/>
            <a:ext cx="1554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Login → 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→ Book → Pay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→ SAGA Result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3337560"/>
            <a:ext cx="877824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4A9F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Monitoring &amp; Observability:  Zipkin (Distributed Tracing)  •  Prometheus (Metrics)  •  Grafana (Dashboards)  •  Eureka (Service Discovery)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9FD4"/>
                </a:solidFill>
              </a:rPr>
              <a:t>5 Microservices | Kafka Async | Feign Sync | SAGA Pattern | CQRS | DDD</a:t>
            </a:r>
            <a:endParaRPr lang="en-US" sz="950" dirty="0"/>
          </a:p>
        </p:txBody>
      </p:sp>
      <p:pic>
        <p:nvPicPr>
          <p:cNvPr id="45" name="Picture 44" descr="flightbooking architech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7080"/>
            <a:ext cx="9164320" cy="4380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 &amp;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103120" cy="42062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481328"/>
            <a:ext cx="1956816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</a:t>
            </a:r>
            <a:r>
              <a:rPr lang="en-IN" alt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RxJS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Routing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Karma / Jasmine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95728" y="100584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1005840"/>
            <a:ext cx="210312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00584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1956816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21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(sync)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Kafka (async)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100584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005840"/>
            <a:ext cx="210312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00584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&amp;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481328"/>
            <a:ext cx="1956816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Hibernate 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/ OpenAPI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AOP Logging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Zipkin Tracing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00584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21424" y="1005840"/>
            <a:ext cx="210312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100584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Patterns Used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94576" y="1481328"/>
            <a:ext cx="1956816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CQRS (User MS)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DDD Aggregate (Flight)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SAGA + Compensation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REST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Event-Driven Kafka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Demo</a:t>
            </a:r>
            <a:endParaRPr lang="en-US" sz="26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18745" y="934085"/>
            <a:ext cx="4355465" cy="2979420"/>
          </a:xfrm>
          <a:prstGeom prst="rect">
            <a:avLst/>
          </a:prstGeom>
          <a:solidFill>
            <a:srgbClr val="1B2E42"/>
          </a:solidFill>
          <a:ln w="635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82880" y="906145"/>
            <a:ext cx="4226560" cy="612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55905" y="1344930"/>
            <a:ext cx="4282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registers &amp; logs in via User Write Service (Port 8081)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850507" y="9144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4538980" y="1974215"/>
            <a:ext cx="4422140" cy="1939290"/>
          </a:xfrm>
          <a:prstGeom prst="rect">
            <a:avLst/>
          </a:prstGeom>
          <a:solidFill>
            <a:srgbClr val="1B2E42"/>
          </a:solidFill>
          <a:ln w="635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572000" y="1974215"/>
            <a:ext cx="4389120" cy="19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Search Flights</a:t>
            </a:r>
            <a:endParaRPr lang="en-US" sz="11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538345" y="2165985"/>
            <a:ext cx="4388485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source, destination &amp; date via Booking → Flight Service (Feign)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4039870"/>
            <a:ext cx="8778240" cy="852170"/>
          </a:xfrm>
          <a:prstGeom prst="rect">
            <a:avLst/>
          </a:prstGeom>
          <a:solidFill>
            <a:srgbClr val="1E3A5F"/>
          </a:solidFill>
          <a:ln w="6350">
            <a:solidFill>
              <a:srgbClr val="4A9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069080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Key Results Achieved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✓ Full SAGA flow working end-to-end   ✓ All 5 APIs documented in Swagger   ✓ AOP logging on all services   ✓ Zipkin traces visible across services   ✓ JUnit &amp; Karma tests passing</a:t>
            </a:r>
            <a:endParaRPr lang="en-US" sz="1050" dirty="0"/>
          </a:p>
        </p:txBody>
      </p:sp>
      <p:pic>
        <p:nvPicPr>
          <p:cNvPr id="37" name="Picture 36" descr="Screenshot 2026-03-25 08535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865" y="1671955"/>
            <a:ext cx="4251960" cy="2241550"/>
          </a:xfrm>
          <a:prstGeom prst="rect">
            <a:avLst/>
          </a:prstGeom>
        </p:spPr>
      </p:pic>
      <p:pic>
        <p:nvPicPr>
          <p:cNvPr id="38" name="Picture 37" descr="Screenshot 2026-03-25 0903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9935" y="93980"/>
            <a:ext cx="4401185" cy="1880235"/>
          </a:xfrm>
          <a:prstGeom prst="rect">
            <a:avLst/>
          </a:prstGeom>
        </p:spPr>
      </p:pic>
      <p:pic>
        <p:nvPicPr>
          <p:cNvPr id="39" name="Picture 38" descr="Screenshot 2026-03-25 0903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8855" y="2388870"/>
            <a:ext cx="3847465" cy="1477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Demo</a:t>
            </a:r>
            <a:endParaRPr lang="en-US" sz="260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85090" y="914400"/>
            <a:ext cx="3174365" cy="3308985"/>
          </a:xfrm>
          <a:prstGeom prst="rect">
            <a:avLst/>
          </a:prstGeom>
          <a:solidFill>
            <a:srgbClr val="1B2E42"/>
          </a:solidFill>
          <a:ln w="635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835358" y="968572"/>
            <a:ext cx="1672879" cy="38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Book a Flight</a:t>
            </a:r>
            <a:endParaRPr lang="en-US" sz="1100" dirty="0"/>
          </a:p>
        </p:txBody>
      </p:sp>
      <p:sp>
        <p:nvSpPr>
          <p:cNvPr id="24" name="Shape 22"/>
          <p:cNvSpPr/>
          <p:nvPr>
            <p:custDataLst>
              <p:tags r:id="rId3"/>
            </p:custDataLst>
          </p:nvPr>
        </p:nvSpPr>
        <p:spPr>
          <a:xfrm>
            <a:off x="3195320" y="913130"/>
            <a:ext cx="3061335" cy="3315335"/>
          </a:xfrm>
          <a:prstGeom prst="rect">
            <a:avLst/>
          </a:prstGeom>
          <a:solidFill>
            <a:srgbClr val="1B2E42"/>
          </a:solidFill>
          <a:ln w="635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>
            <p:custDataLst>
              <p:tags r:id="rId4"/>
            </p:custDataLst>
          </p:nvPr>
        </p:nvSpPr>
        <p:spPr>
          <a:xfrm>
            <a:off x="6257925" y="906145"/>
            <a:ext cx="2694305" cy="3300730"/>
          </a:xfrm>
          <a:prstGeom prst="rect">
            <a:avLst/>
          </a:prstGeom>
          <a:solidFill>
            <a:srgbClr val="1B2E42"/>
          </a:solidFill>
          <a:ln w="6350">
            <a:solidFill>
              <a:srgbClr val="4A9F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320540"/>
            <a:ext cx="8778240" cy="822960"/>
          </a:xfrm>
          <a:prstGeom prst="rect">
            <a:avLst/>
          </a:prstGeom>
          <a:solidFill>
            <a:srgbClr val="1E3A5F"/>
          </a:solidFill>
          <a:ln w="6350">
            <a:solidFill>
              <a:srgbClr val="4A9FD4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34" name="Text 32"/>
          <p:cNvSpPr/>
          <p:nvPr/>
        </p:nvSpPr>
        <p:spPr>
          <a:xfrm>
            <a:off x="269240" y="4361815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Key Results Achieved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531995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✓ Full SAGA flow working end-to-end   ✓ All 5 APIs documented in Swagger   ✓ AOP logging on all services   ✓ Zipkin traces visible across services   ✓ JUnit &amp; Karma tests passing</a:t>
            </a:r>
            <a:endParaRPr lang="en-US" sz="1050" dirty="0"/>
          </a:p>
        </p:txBody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4236905" y="914443"/>
            <a:ext cx="661798" cy="6617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/>
          <p:nvPr>
            <p:custDataLst>
              <p:tags r:id="rId6"/>
            </p:custDataLst>
          </p:nvPr>
        </p:nvSpPr>
        <p:spPr>
          <a:xfrm>
            <a:off x="93345" y="1311275"/>
            <a:ext cx="3101975" cy="2565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</a:t>
            </a:r>
            <a:r>
              <a:rPr lang="en-IN" alt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service;</a:t>
            </a:r>
            <a:endParaRPr lang="en-IN" altLang="en-US" sz="1000" dirty="0">
              <a:solidFill>
                <a:srgbClr val="B0C4D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3730854" y="968572"/>
            <a:ext cx="1672879" cy="38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Payment Processing</a:t>
            </a:r>
            <a:endParaRPr lang="en-US" sz="1100" dirty="0"/>
          </a:p>
        </p:txBody>
      </p:sp>
      <p:sp>
        <p:nvSpPr>
          <p:cNvPr id="26" name="Text 24"/>
          <p:cNvSpPr/>
          <p:nvPr>
            <p:custDataLst>
              <p:tags r:id="rId8"/>
            </p:custDataLst>
          </p:nvPr>
        </p:nvSpPr>
        <p:spPr>
          <a:xfrm>
            <a:off x="3195320" y="1355090"/>
            <a:ext cx="2889885" cy="226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Service</a:t>
            </a:r>
            <a:r>
              <a:rPr lang="en-IN" alt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;</a:t>
            </a: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29" name="Text 27"/>
          <p:cNvSpPr/>
          <p:nvPr>
            <p:custDataLst>
              <p:tags r:id="rId9"/>
            </p:custDataLst>
          </p:nvPr>
        </p:nvSpPr>
        <p:spPr>
          <a:xfrm>
            <a:off x="7784880" y="914443"/>
            <a:ext cx="661798" cy="6617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1" name="Text 29"/>
          <p:cNvSpPr/>
          <p:nvPr>
            <p:custDataLst>
              <p:tags r:id="rId10"/>
            </p:custDataLst>
          </p:nvPr>
        </p:nvSpPr>
        <p:spPr>
          <a:xfrm>
            <a:off x="6850396" y="968572"/>
            <a:ext cx="1672879" cy="38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Result &amp; E-Ticket</a:t>
            </a:r>
            <a:endParaRPr lang="en-US" sz="1100" dirty="0"/>
          </a:p>
        </p:txBody>
      </p:sp>
      <p:sp>
        <p:nvSpPr>
          <p:cNvPr id="32" name="Text 30"/>
          <p:cNvSpPr/>
          <p:nvPr>
            <p:custDataLst>
              <p:tags r:id="rId11"/>
            </p:custDataLst>
          </p:nvPr>
        </p:nvSpPr>
        <p:spPr>
          <a:xfrm>
            <a:off x="6121400" y="1289050"/>
            <a:ext cx="2788920" cy="2787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status updated; PDF ticket generated on success</a:t>
            </a:r>
            <a:endParaRPr lang="en-US" sz="1000" dirty="0"/>
          </a:p>
        </p:txBody>
      </p:sp>
      <p:pic>
        <p:nvPicPr>
          <p:cNvPr id="36" name="Picture 35" descr="Screenshot 2026-03-25 0910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" y="1548765"/>
            <a:ext cx="3098165" cy="1295400"/>
          </a:xfrm>
          <a:prstGeom prst="rect">
            <a:avLst/>
          </a:prstGeom>
        </p:spPr>
      </p:pic>
      <p:pic>
        <p:nvPicPr>
          <p:cNvPr id="37" name="Picture 36" descr="Screenshot 2026-03-25 09105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10" y="2863215"/>
            <a:ext cx="3117215" cy="1343660"/>
          </a:xfrm>
          <a:prstGeom prst="rect">
            <a:avLst/>
          </a:prstGeom>
        </p:spPr>
      </p:pic>
      <p:pic>
        <p:nvPicPr>
          <p:cNvPr id="38" name="Picture 37" descr="Screenshot 2026-03-25 09190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89300" y="1516380"/>
            <a:ext cx="2874645" cy="1329055"/>
          </a:xfrm>
          <a:prstGeom prst="rect">
            <a:avLst/>
          </a:prstGeom>
        </p:spPr>
      </p:pic>
      <p:pic>
        <p:nvPicPr>
          <p:cNvPr id="39" name="Picture 38" descr="Screenshot 2026-03-25 0920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2950" y="2839085"/>
            <a:ext cx="2872105" cy="1375410"/>
          </a:xfrm>
          <a:prstGeom prst="rect">
            <a:avLst/>
          </a:prstGeom>
        </p:spPr>
      </p:pic>
      <p:pic>
        <p:nvPicPr>
          <p:cNvPr id="40" name="Picture 39" descr="Screenshot 2026-03-25 0924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8420" y="1600835"/>
            <a:ext cx="23698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74320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We Achieved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56032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Spring Boot microservices fully working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CQRS, DDD, SAGA &amp; OpenFeign implemented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frontend with 8 screens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async communication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on all 5 services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Zipkin + Prometheus + Grafana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service discovery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JUnit &amp; Karma tests passing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Challenges Faced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56032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3.5 &amp; Spring Cloud version compatibility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consumer group stabilisation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SAGA compensation logic for distributed rollbacks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 blocking Eureka registration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Zipkin jar download in restricted network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standalone component test configuration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7432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0584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Enhancements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56032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payment gateway integration (Razorpay / Stripe)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JWT-based authentication &amp; authorization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Multi-passenger booking support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notifications via SMTP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pipeline with GitHub Actions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deployment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(React Native / Flutter)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dynamic seat pricing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Thank You!  |  Questions &amp; Answers  |  Ayush Kumar Sha  —  Flight Booking App Capstone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2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3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4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5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6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7.xml><?xml version="1.0" encoding="utf-8"?>
<p:tagLst xmlns:p="http://schemas.openxmlformats.org/presentationml/2006/main">
  <p:tag name="KSO_WM_DIAGRAM_VIRTUALLY_FRAME" val="{&quot;height&quot;:236.81,&quot;left&quot;:9.35,&quot;top&quot;:71.35,&quot;width&quot;:696.25}"/>
</p:tagLst>
</file>

<file path=ppt/tags/tag8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9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0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1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2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3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4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5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6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7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ags/tag18.xml><?xml version="1.0" encoding="utf-8"?>
<p:tagLst xmlns:p="http://schemas.openxmlformats.org/presentationml/2006/main">
  <p:tag name="KSO_WM_DIAGRAM_VIRTUALLY_FRAME" val="{&quot;height&quot;:261.6,&quot;left&quot;:1.7,&quot;top&quot;:71.35,&quot;width&quot;:703.21921634014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4057</Words>
  <Application>WPS Presentation</Application>
  <PresentationFormat>On-screen Show (16:9)</PresentationFormat>
  <Paragraphs>206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Booking App - Capstone Project</dc:title>
  <dc:creator>PptxGenJS</dc:creator>
  <dc:subject>PptxGenJS Presentation</dc:subject>
  <cp:lastModifiedBy>Ayush Sha</cp:lastModifiedBy>
  <cp:revision>11</cp:revision>
  <dcterms:created xsi:type="dcterms:W3CDTF">2026-03-25T03:03:00Z</dcterms:created>
  <dcterms:modified xsi:type="dcterms:W3CDTF">2026-03-25T04:53:16Z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31272143AC5445F7B2F262D99CE1E1BB_12</vt:lpwstr>
  </property>
  <property fmtid="{D5CDD505-2E9C-101B-9397-08002B2CF9AE}" pid="3" name="KSOProductBuildVer">
    <vt:lpwstr>2057-12.2.0.23197</vt:lpwstr>
  </property>
</Properties>
</file>